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NapkinAiOrigin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/>
  <p:notesSz cx="6858000" cy="9144000"/>
  <p:embeddedFontLst>
    <p:embeddedFont>
      <p:font typeface="Montserrat" pitchFamily="2" charset="0"/>
      <p:regular r:id="rId19"/>
      <p:bold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6858000" cy="5143500"/>
          </a:xfrm>
          <a:custGeom>
            <a:avLst/>
            <a:gdLst/>
            <a:ahLst/>
            <a:cxnLst/>
            <a:rect l="0" t="0" r="0" b="0"/>
            <a:pathLst>
              <a:path w="6858000" h="5143500">
                <a:moveTo>
                  <a:pt x="0" y="0"/>
                </a:moveTo>
                <a:lnTo>
                  <a:pt x="6858000" y="0"/>
                </a:lnTo>
                <a:lnTo>
                  <a:pt x="6858000" y="5143500"/>
                </a:lnTo>
                <a:lnTo>
                  <a:pt x="0" y="5143500"/>
                </a:lnTo>
                <a:lnTo>
                  <a:pt x="0" y="0"/>
                </a:lnTo>
              </a:path>
            </a:pathLst>
          </a:custGeom>
          <a:solidFill>
            <a:srgbClr val="FAFCFC">
              <a:alpha val="3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rcRect l="12791" r="12791"/>
          <a:stretch>
            <a:fillRect/>
          </a:stretch>
        </p:blipFill>
        <p:spPr>
          <a:xfrm>
            <a:off x="2286000" y="0"/>
            <a:ext cx="6858000" cy="51435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0" y="0"/>
            <a:ext cx="4572000" cy="5143500"/>
          </a:xfrm>
          <a:custGeom>
            <a:avLst/>
            <a:gdLst/>
            <a:ahLst/>
            <a:cxnLst/>
            <a:rect l="0" t="0" r="0" b="0"/>
            <a:pathLst>
              <a:path w="4572000" h="5143500">
                <a:moveTo>
                  <a:pt x="0" y="0"/>
                </a:moveTo>
                <a:lnTo>
                  <a:pt x="4572000" y="0"/>
                </a:lnTo>
                <a:lnTo>
                  <a:pt x="4572000" y="5143500"/>
                </a:lnTo>
                <a:lnTo>
                  <a:pt x="0" y="5143500"/>
                </a:lnTo>
                <a:lnTo>
                  <a:pt x="0" y="0"/>
                </a:lnTo>
              </a:path>
            </a:pathLst>
          </a:custGeom>
          <a:solidFill>
            <a:srgbClr val="FAFCFC">
              <a:alpha val="49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0525" y="2654518"/>
            <a:ext cx="0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>
                <a:solidFill>
                  <a:srgbClr val="132028"/>
                </a:solidFill>
                <a:latin typeface="Montserrat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2925" y="2387818"/>
            <a:ext cx="2712870" cy="685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Chirag Somkuwar · Healthcare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Analytics Mini Project (CA-III) ·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Symbiosis Institute of Technology,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Nagpur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0525" y="3286550"/>
            <a:ext cx="5736565" cy="96012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83333"/>
              </a:lnSpc>
              <a:spcBef>
                <a:spcPts val="0"/>
              </a:spcBef>
            </a:pPr>
            <a:r>
              <a:rPr sz="2700" b="1">
                <a:solidFill>
                  <a:srgbClr val="132028"/>
                </a:solidFill>
                <a:latin typeface="Montserrat"/>
              </a:rPr>
              <a:t>Predicting Dementia Using</a:t>
            </a:r>
          </a:p>
          <a:p>
            <a:pPr algn="l">
              <a:lnSpc>
                <a:spcPct val="83333"/>
              </a:lnSpc>
              <a:spcBef>
                <a:spcPts val="0"/>
              </a:spcBef>
            </a:pPr>
            <a:r>
              <a:rPr sz="2700" b="1">
                <a:solidFill>
                  <a:srgbClr val="132028"/>
                </a:solidFill>
                <a:latin typeface="Montserrat"/>
              </a:rPr>
              <a:t>Brain Scan Measurements</a:t>
            </a:r>
          </a:p>
          <a:p>
            <a:pPr algn="l">
              <a:lnSpc>
                <a:spcPct val="83333"/>
              </a:lnSpc>
              <a:spcBef>
                <a:spcPts val="0"/>
              </a:spcBef>
            </a:pPr>
            <a:r>
              <a:rPr sz="2700" b="1">
                <a:solidFill>
                  <a:srgbClr val="132028"/>
                </a:solidFill>
                <a:latin typeface="Montserrat"/>
              </a:rPr>
              <a:t>and Patient Health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0525" y="4600575"/>
            <a:ext cx="5664906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>
                <a:solidFill>
                  <a:srgbClr val="132028"/>
                </a:solidFill>
                <a:latin typeface="Montserrat"/>
              </a:rPr>
              <a:t>A Person-Wise Validated, Explainable Machine Learning Study on OASIS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5D9A9A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975" y="231212"/>
            <a:ext cx="4391025" cy="468107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5775" y="1097071"/>
            <a:ext cx="3821598" cy="7146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98464"/>
              </a:lnSpc>
              <a:spcBef>
                <a:spcPts val="0"/>
              </a:spcBef>
            </a:pPr>
            <a:r>
              <a:rPr sz="2400" b="1">
                <a:solidFill>
                  <a:srgbClr val="132028"/>
                </a:solidFill>
                <a:latin typeface="Montserrat"/>
              </a:rPr>
              <a:t>The Challenge of</a:t>
            </a:r>
          </a:p>
          <a:p>
            <a:pPr algn="l">
              <a:lnSpc>
                <a:spcPct val="98464"/>
              </a:lnSpc>
              <a:spcBef>
                <a:spcPts val="0"/>
              </a:spcBef>
            </a:pPr>
            <a:r>
              <a:rPr sz="2400" b="1">
                <a:solidFill>
                  <a:srgbClr val="132028"/>
                </a:solidFill>
                <a:latin typeface="Montserrat"/>
              </a:rPr>
              <a:t>Dementia Screening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5775" y="2040368"/>
            <a:ext cx="4264776" cy="41151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0">
                <a:solidFill>
                  <a:srgbClr val="132028"/>
                </a:solidFill>
                <a:latin typeface="Montserrat"/>
              </a:rPr>
              <a:t>Bridging the gap between brain scans and</a:t>
            </a:r>
          </a:p>
          <a:p>
            <a:pPr algn="l">
              <a:lnSpc>
                <a:spcPct val="100000"/>
              </a:lnSpc>
              <a:spcBef>
                <a:spcPts val="60"/>
              </a:spcBef>
            </a:pPr>
            <a:r>
              <a:rPr sz="1300" b="0">
                <a:solidFill>
                  <a:srgbClr val="132028"/>
                </a:solidFill>
                <a:latin typeface="Montserrat"/>
              </a:rPr>
              <a:t>clinical memory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5775" y="2680484"/>
            <a:ext cx="4469130" cy="137156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>
                <a:solidFill>
                  <a:srgbClr val="132028"/>
                </a:solidFill>
                <a:latin typeface="Montserrat"/>
              </a:rPr>
              <a:t>Dementia is usually screened with either a brain scan or a</a:t>
            </a:r>
          </a:p>
          <a:p>
            <a:pPr algn="l">
              <a:lnSpc>
                <a:spcPct val="100000"/>
              </a:lnSpc>
              <a:spcBef>
                <a:spcPts val="270"/>
              </a:spcBef>
            </a:pPr>
            <a:r>
              <a:rPr sz="900" b="0">
                <a:solidFill>
                  <a:srgbClr val="132028"/>
                </a:solidFill>
                <a:latin typeface="Montserrat"/>
              </a:rPr>
              <a:t>memory test (MMSE).</a:t>
            </a:r>
          </a:p>
          <a:p>
            <a:pPr algn="l">
              <a:lnSpc>
                <a:spcPct val="100000"/>
              </a:lnSpc>
              <a:spcBef>
                <a:spcPts val="269"/>
              </a:spcBef>
            </a:pPr>
            <a:r>
              <a:rPr sz="900" b="0">
                <a:solidFill>
                  <a:srgbClr val="132028"/>
                </a:solidFill>
                <a:latin typeface="Montserrat"/>
              </a:rPr>
              <a:t>These two sources are rarely modeled together or compared</a:t>
            </a:r>
          </a:p>
          <a:p>
            <a:pPr algn="l">
              <a:lnSpc>
                <a:spcPct val="100000"/>
              </a:lnSpc>
              <a:spcBef>
                <a:spcPts val="270"/>
              </a:spcBef>
            </a:pPr>
            <a:r>
              <a:rPr sz="900" b="0">
                <a:solidFill>
                  <a:srgbClr val="132028"/>
                </a:solidFill>
                <a:latin typeface="Montserrat"/>
              </a:rPr>
              <a:t>on equal terms.</a:t>
            </a:r>
          </a:p>
          <a:p>
            <a:pPr algn="l">
              <a:lnSpc>
                <a:spcPct val="100000"/>
              </a:lnSpc>
              <a:spcBef>
                <a:spcPts val="270"/>
              </a:spcBef>
            </a:pPr>
            <a:r>
              <a:rPr sz="900" b="0">
                <a:solidFill>
                  <a:srgbClr val="132028"/>
                </a:solidFill>
                <a:latin typeface="Montserrat"/>
              </a:rPr>
              <a:t>This project builds a classifier using both brain scan</a:t>
            </a:r>
          </a:p>
          <a:p>
            <a:pPr algn="l">
              <a:lnSpc>
                <a:spcPct val="100000"/>
              </a:lnSpc>
              <a:spcBef>
                <a:spcPts val="270"/>
              </a:spcBef>
            </a:pPr>
            <a:r>
              <a:rPr sz="900" b="0">
                <a:solidFill>
                  <a:srgbClr val="132028"/>
                </a:solidFill>
                <a:latin typeface="Montserrat"/>
              </a:rPr>
              <a:t>measurements and patient details.</a:t>
            </a:r>
          </a:p>
          <a:p>
            <a:pPr algn="l">
              <a:lnSpc>
                <a:spcPct val="100000"/>
              </a:lnSpc>
              <a:spcBef>
                <a:spcPts val="270"/>
              </a:spcBef>
            </a:pPr>
            <a:r>
              <a:rPr sz="900" b="0">
                <a:solidFill>
                  <a:srgbClr val="132028"/>
                </a:solidFill>
                <a:latin typeface="Montserrat"/>
              </a:rPr>
              <a:t>Goal: Determine which data type the model leans on more</a:t>
            </a:r>
          </a:p>
          <a:p>
            <a:pPr algn="l">
              <a:lnSpc>
                <a:spcPct val="100000"/>
              </a:lnSpc>
              <a:spcBef>
                <a:spcPts val="270"/>
              </a:spcBef>
            </a:pPr>
            <a:r>
              <a:rPr sz="900" b="0">
                <a:solidFill>
                  <a:srgbClr val="132028"/>
                </a:solidFill>
                <a:latin typeface="Montserrat"/>
              </a:rPr>
              <a:t>for accurate prediction.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1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5D9A9A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594"/>
            <a:ext cx="4467225" cy="294073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57750" y="2343110"/>
            <a:ext cx="4271841" cy="36004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700" b="1">
                <a:solidFill>
                  <a:srgbClr val="132028"/>
                </a:solidFill>
                <a:latin typeface="Montserrat"/>
              </a:rPr>
              <a:t>The OASIS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57750" y="2798406"/>
            <a:ext cx="4469130" cy="41151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0">
                <a:solidFill>
                  <a:srgbClr val="132028"/>
                </a:solidFill>
                <a:latin typeface="Montserrat"/>
              </a:rPr>
              <a:t>Utilizing longitudinal and cross-sectional MRI</a:t>
            </a:r>
          </a:p>
          <a:p>
            <a:pPr algn="l">
              <a:lnSpc>
                <a:spcPct val="100000"/>
              </a:lnSpc>
              <a:spcBef>
                <a:spcPts val="60"/>
              </a:spcBef>
            </a:pPr>
            <a:r>
              <a:rPr sz="1300" b="0">
                <a:solidFill>
                  <a:srgbClr val="132028"/>
                </a:solidFill>
                <a:latin typeface="Montserrat"/>
              </a:rPr>
              <a:t>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0525" y="3676649"/>
            <a:ext cx="823809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132028"/>
                </a:solidFill>
                <a:latin typeface="Montserrat"/>
              </a:rPr>
              <a:t>OASIS-2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33650" y="3676649"/>
            <a:ext cx="783761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132028"/>
                </a:solidFill>
                <a:latin typeface="Montserrat"/>
              </a:rPr>
              <a:t>OASIS-1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76775" y="3676649"/>
            <a:ext cx="899915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132028"/>
                </a:solidFill>
                <a:latin typeface="Montserrat"/>
              </a:rPr>
              <a:t>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9900" y="3676649"/>
            <a:ext cx="1090006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132028"/>
                </a:solidFill>
                <a:latin typeface="Montserrat"/>
              </a:rPr>
              <a:t>Exclusions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0525" y="3990975"/>
            <a:ext cx="2115212" cy="5143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OASIS-2 (Training): 150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people, 373 visits, aged 60–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98.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3650" y="3990975"/>
            <a:ext cx="2187550" cy="5143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OASIS-1 (External Test): 198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records of people aged 60+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with CDR scores.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6775" y="3990975"/>
            <a:ext cx="2223611" cy="685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3 Brain scan measurements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(eTIV, nWBV, ASF) and 4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Patient details (Age, Sex,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SES, MMSE).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9900" y="3990975"/>
            <a:ext cx="2026443" cy="685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CDR and Education were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excluded to avoid data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leakage and maintain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consistency.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6212" y="4881523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1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5D9A9A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88" y="0"/>
            <a:ext cx="2839447" cy="302700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57750" y="1851561"/>
            <a:ext cx="4138227" cy="66867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87500"/>
              </a:lnSpc>
              <a:spcBef>
                <a:spcPts val="0"/>
              </a:spcBef>
            </a:pPr>
            <a:r>
              <a:rPr sz="2700" b="1">
                <a:solidFill>
                  <a:srgbClr val="132028"/>
                </a:solidFill>
                <a:latin typeface="Montserrat"/>
              </a:rPr>
              <a:t>Person-Wise</a:t>
            </a:r>
          </a:p>
          <a:p>
            <a:pPr algn="l">
              <a:lnSpc>
                <a:spcPct val="87500"/>
              </a:lnSpc>
              <a:spcBef>
                <a:spcPts val="0"/>
              </a:spcBef>
            </a:pPr>
            <a:r>
              <a:rPr sz="2700" b="1">
                <a:solidFill>
                  <a:srgbClr val="132028"/>
                </a:solidFill>
                <a:latin typeface="Montserrat"/>
              </a:rPr>
              <a:t>Validation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57750" y="2615487"/>
            <a:ext cx="4168010" cy="41151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0">
                <a:solidFill>
                  <a:srgbClr val="132028"/>
                </a:solidFill>
                <a:latin typeface="Montserrat"/>
              </a:rPr>
              <a:t>Avoiding data leakage by keeping subject</a:t>
            </a:r>
          </a:p>
          <a:p>
            <a:pPr algn="l">
              <a:lnSpc>
                <a:spcPct val="100000"/>
              </a:lnSpc>
              <a:spcBef>
                <a:spcPts val="60"/>
              </a:spcBef>
            </a:pPr>
            <a:r>
              <a:rPr sz="1300" b="0">
                <a:solidFill>
                  <a:srgbClr val="132028"/>
                </a:solidFill>
                <a:latin typeface="Montserrat"/>
              </a:rPr>
              <a:t>visits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0525" y="3493731"/>
            <a:ext cx="1864535" cy="41151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>
                <a:solidFill>
                  <a:srgbClr val="132028"/>
                </a:solidFill>
                <a:latin typeface="Montserrat"/>
              </a:rPr>
              <a:t>Standard random</a:t>
            </a:r>
          </a:p>
          <a:p>
            <a:pPr algn="l">
              <a:lnSpc>
                <a:spcPct val="100000"/>
              </a:lnSpc>
              <a:spcBef>
                <a:spcPts val="60"/>
              </a:spcBef>
            </a:pPr>
            <a:r>
              <a:rPr sz="1300" b="1">
                <a:solidFill>
                  <a:srgbClr val="132028"/>
                </a:solidFill>
                <a:latin typeface="Montserrat"/>
              </a:rPr>
              <a:t>splits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33650" y="3493729"/>
            <a:ext cx="2182643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132028"/>
                </a:solidFill>
                <a:latin typeface="Montserrat"/>
              </a:rPr>
              <a:t>StratifiedGroupKFold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76775" y="3493731"/>
            <a:ext cx="1985476" cy="41151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>
                <a:solidFill>
                  <a:srgbClr val="132028"/>
                </a:solidFill>
                <a:latin typeface="Montserrat"/>
              </a:rPr>
              <a:t>Repeated over five</a:t>
            </a:r>
          </a:p>
          <a:p>
            <a:pPr algn="l">
              <a:lnSpc>
                <a:spcPct val="100000"/>
              </a:lnSpc>
              <a:spcBef>
                <a:spcPts val="60"/>
              </a:spcBef>
            </a:pPr>
            <a:r>
              <a:rPr sz="1300" b="1">
                <a:solidFill>
                  <a:srgbClr val="132028"/>
                </a:solidFill>
                <a:latin typeface="Montserrat"/>
              </a:rPr>
              <a:t>seeds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9900" y="3493729"/>
            <a:ext cx="1699429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132028"/>
                </a:solidFill>
                <a:latin typeface="Montserrat"/>
              </a:rPr>
              <a:t>Strict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33650" y="3808055"/>
            <a:ext cx="1914616" cy="5143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Ensures all visits of one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person stay in the same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fold.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9900" y="3808055"/>
            <a:ext cx="2073686" cy="5143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Strict evaluation prevents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optimistic but misleading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accuracy scores.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525" y="3990975"/>
            <a:ext cx="2216764" cy="5143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Standard random splits can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put the same person in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both training and test sets.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6775" y="3990975"/>
            <a:ext cx="2195306" cy="685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Repeated over five seeds to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ensure stability and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measure performance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spread.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5D9A9A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775" y="428897"/>
            <a:ext cx="4467225" cy="294073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0525" y="2623086"/>
            <a:ext cx="4013179" cy="6686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87500"/>
              </a:lnSpc>
              <a:spcBef>
                <a:spcPts val="0"/>
              </a:spcBef>
            </a:pPr>
            <a:r>
              <a:rPr sz="2700" b="1">
                <a:solidFill>
                  <a:srgbClr val="132028"/>
                </a:solidFill>
                <a:latin typeface="Montserrat"/>
              </a:rPr>
              <a:t>Machine Learning</a:t>
            </a:r>
          </a:p>
          <a:p>
            <a:pPr algn="l">
              <a:lnSpc>
                <a:spcPct val="87500"/>
              </a:lnSpc>
              <a:spcBef>
                <a:spcPts val="0"/>
              </a:spcBef>
            </a:pPr>
            <a:r>
              <a:rPr sz="2700" b="1">
                <a:solidFill>
                  <a:srgbClr val="132028"/>
                </a:solidFill>
                <a:latin typeface="Montserrat"/>
              </a:rPr>
              <a:t>Classifiers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0525" y="3387012"/>
            <a:ext cx="4285314" cy="41151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0">
                <a:solidFill>
                  <a:srgbClr val="132028"/>
                </a:solidFill>
                <a:latin typeface="Montserrat"/>
              </a:rPr>
              <a:t>Comparing linear and non-linear modeling</a:t>
            </a:r>
          </a:p>
          <a:p>
            <a:pPr algn="l">
              <a:lnSpc>
                <a:spcPct val="100000"/>
              </a:lnSpc>
              <a:spcBef>
                <a:spcPts val="60"/>
              </a:spcBef>
            </a:pPr>
            <a:r>
              <a:rPr sz="1300" b="0">
                <a:solidFill>
                  <a:srgbClr val="132028"/>
                </a:solidFill>
                <a:latin typeface="Montserrat"/>
              </a:rPr>
              <a:t>approaches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0525" y="4265256"/>
            <a:ext cx="2016059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132028"/>
                </a:solidFill>
                <a:latin typeface="Montserrat"/>
              </a:rPr>
              <a:t>Logistic Regression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33650" y="4265256"/>
            <a:ext cx="1581327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132028"/>
                </a:solidFill>
                <a:latin typeface="Montserrat"/>
              </a:rPr>
              <a:t>Random Forest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76775" y="4265256"/>
            <a:ext cx="1623213" cy="41151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>
                <a:solidFill>
                  <a:srgbClr val="132028"/>
                </a:solidFill>
                <a:latin typeface="Montserrat"/>
              </a:rPr>
              <a:t>Support Vector</a:t>
            </a:r>
          </a:p>
          <a:p>
            <a:pPr algn="l">
              <a:lnSpc>
                <a:spcPct val="100000"/>
              </a:lnSpc>
              <a:spcBef>
                <a:spcPts val="60"/>
              </a:spcBef>
            </a:pPr>
            <a:r>
              <a:rPr sz="1300" b="1">
                <a:solidFill>
                  <a:srgbClr val="132028"/>
                </a:solidFill>
                <a:latin typeface="Montserrat"/>
              </a:rPr>
              <a:t>Machine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9900" y="4265256"/>
            <a:ext cx="742345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132028"/>
                </a:solidFill>
                <a:latin typeface="Montserrat"/>
              </a:rPr>
              <a:t>Models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14459" y="4856897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5D9A9A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648200" y="3313788"/>
            <a:ext cx="1371600" cy="434340"/>
          </a:xfrm>
          <a:custGeom>
            <a:avLst/>
            <a:gdLst/>
            <a:ahLst/>
            <a:cxnLst/>
            <a:rect l="0" t="0" r="0" b="0"/>
            <a:pathLst>
              <a:path w="1371600" h="434340">
                <a:moveTo>
                  <a:pt x="0" y="320040"/>
                </a:moveTo>
                <a:cubicBezTo>
                  <a:pt x="0" y="383162"/>
                  <a:pt x="51177" y="434340"/>
                  <a:pt x="114300" y="434340"/>
                </a:cubicBezTo>
                <a:lnTo>
                  <a:pt x="1257300" y="434340"/>
                </a:lnTo>
                <a:cubicBezTo>
                  <a:pt x="1320422" y="434340"/>
                  <a:pt x="1371600" y="383162"/>
                  <a:pt x="1371600" y="320040"/>
                </a:cubicBezTo>
                <a:lnTo>
                  <a:pt x="1371600" y="114300"/>
                </a:lnTo>
                <a:cubicBezTo>
                  <a:pt x="1371600" y="51177"/>
                  <a:pt x="1320422" y="0"/>
                  <a:pt x="1257300" y="0"/>
                </a:cubicBezTo>
                <a:lnTo>
                  <a:pt x="114300" y="0"/>
                </a:lnTo>
                <a:cubicBezTo>
                  <a:pt x="51177" y="0"/>
                  <a:pt x="0" y="51177"/>
                  <a:pt x="0" y="114300"/>
                </a:cubicBezTo>
                <a:lnTo>
                  <a:pt x="0" y="320040"/>
                </a:lnTo>
              </a:path>
            </a:pathLst>
          </a:custGeom>
          <a:solidFill>
            <a:srgbClr val="3D5A6C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648200" y="3313788"/>
            <a:ext cx="1371600" cy="434339"/>
          </a:xfrm>
          <a:custGeom>
            <a:avLst/>
            <a:gdLst/>
            <a:ahLst/>
            <a:cxnLst/>
            <a:rect l="0" t="0" r="0" b="0"/>
            <a:pathLst>
              <a:path w="1371600" h="434339">
                <a:moveTo>
                  <a:pt x="1371600" y="114300"/>
                </a:moveTo>
                <a:cubicBezTo>
                  <a:pt x="1371600" y="51174"/>
                  <a:pt x="1320425" y="0"/>
                  <a:pt x="1257300" y="0"/>
                </a:cubicBezTo>
                <a:lnTo>
                  <a:pt x="114300" y="0"/>
                </a:lnTo>
                <a:cubicBezTo>
                  <a:pt x="51174" y="0"/>
                  <a:pt x="0" y="51174"/>
                  <a:pt x="0" y="114300"/>
                </a:cubicBezTo>
                <a:moveTo>
                  <a:pt x="1371600" y="320039"/>
                </a:moveTo>
                <a:cubicBezTo>
                  <a:pt x="1371600" y="383165"/>
                  <a:pt x="1320425" y="434339"/>
                  <a:pt x="1257300" y="434339"/>
                </a:cubicBezTo>
                <a:lnTo>
                  <a:pt x="114300" y="434339"/>
                </a:lnTo>
                <a:cubicBezTo>
                  <a:pt x="51174" y="434339"/>
                  <a:pt x="0" y="383165"/>
                  <a:pt x="0" y="320039"/>
                </a:cubicBezTo>
                <a:moveTo>
                  <a:pt x="0" y="320039"/>
                </a:moveTo>
                <a:lnTo>
                  <a:pt x="0" y="114300"/>
                </a:lnTo>
                <a:moveTo>
                  <a:pt x="1371600" y="320039"/>
                </a:moveTo>
                <a:lnTo>
                  <a:pt x="1371600" y="114300"/>
                </a:lnTo>
              </a:path>
            </a:pathLst>
          </a:custGeom>
          <a:noFill/>
          <a:ln w="38100">
            <a:solidFill>
              <a:srgbClr val="FAFCF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77000" y="3313788"/>
            <a:ext cx="1371600" cy="434340"/>
          </a:xfrm>
          <a:custGeom>
            <a:avLst/>
            <a:gdLst/>
            <a:ahLst/>
            <a:cxnLst/>
            <a:rect l="0" t="0" r="0" b="0"/>
            <a:pathLst>
              <a:path w="1371600" h="434340">
                <a:moveTo>
                  <a:pt x="0" y="320040"/>
                </a:moveTo>
                <a:cubicBezTo>
                  <a:pt x="0" y="383162"/>
                  <a:pt x="51177" y="434340"/>
                  <a:pt x="114300" y="434340"/>
                </a:cubicBezTo>
                <a:lnTo>
                  <a:pt x="1257300" y="434340"/>
                </a:lnTo>
                <a:cubicBezTo>
                  <a:pt x="1320422" y="434340"/>
                  <a:pt x="1371600" y="383162"/>
                  <a:pt x="1371600" y="320040"/>
                </a:cubicBezTo>
                <a:lnTo>
                  <a:pt x="1371600" y="114300"/>
                </a:lnTo>
                <a:cubicBezTo>
                  <a:pt x="1371600" y="51177"/>
                  <a:pt x="1320422" y="0"/>
                  <a:pt x="1257300" y="0"/>
                </a:cubicBezTo>
                <a:lnTo>
                  <a:pt x="114300" y="0"/>
                </a:lnTo>
                <a:cubicBezTo>
                  <a:pt x="51177" y="0"/>
                  <a:pt x="0" y="51177"/>
                  <a:pt x="0" y="114300"/>
                </a:cubicBezTo>
                <a:lnTo>
                  <a:pt x="0" y="320040"/>
                </a:lnTo>
              </a:path>
            </a:pathLst>
          </a:custGeom>
          <a:solidFill>
            <a:srgbClr val="FF8523">
              <a:alpha val="3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77000" y="3313788"/>
            <a:ext cx="1371600" cy="434339"/>
          </a:xfrm>
          <a:custGeom>
            <a:avLst/>
            <a:gdLst/>
            <a:ahLst/>
            <a:cxnLst/>
            <a:rect l="0" t="0" r="0" b="0"/>
            <a:pathLst>
              <a:path w="1371600" h="434339">
                <a:moveTo>
                  <a:pt x="1371600" y="114300"/>
                </a:moveTo>
                <a:cubicBezTo>
                  <a:pt x="1371600" y="51174"/>
                  <a:pt x="1320425" y="0"/>
                  <a:pt x="1257300" y="0"/>
                </a:cubicBezTo>
                <a:lnTo>
                  <a:pt x="114300" y="0"/>
                </a:lnTo>
                <a:cubicBezTo>
                  <a:pt x="51174" y="0"/>
                  <a:pt x="0" y="51174"/>
                  <a:pt x="0" y="114300"/>
                </a:cubicBezTo>
                <a:moveTo>
                  <a:pt x="1371600" y="320039"/>
                </a:moveTo>
                <a:cubicBezTo>
                  <a:pt x="1371600" y="383165"/>
                  <a:pt x="1320425" y="434339"/>
                  <a:pt x="1257300" y="434339"/>
                </a:cubicBezTo>
                <a:lnTo>
                  <a:pt x="114300" y="434339"/>
                </a:lnTo>
                <a:cubicBezTo>
                  <a:pt x="51174" y="434339"/>
                  <a:pt x="0" y="383165"/>
                  <a:pt x="0" y="320039"/>
                </a:cubicBezTo>
                <a:moveTo>
                  <a:pt x="0" y="320039"/>
                </a:moveTo>
                <a:lnTo>
                  <a:pt x="0" y="114300"/>
                </a:lnTo>
                <a:moveTo>
                  <a:pt x="1371600" y="320039"/>
                </a:moveTo>
                <a:lnTo>
                  <a:pt x="1371600" y="114300"/>
                </a:lnTo>
              </a:path>
            </a:pathLst>
          </a:custGeom>
          <a:noFill/>
          <a:ln w="38100">
            <a:solidFill>
              <a:srgbClr val="FAFCF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895850" y="1473517"/>
            <a:ext cx="876300" cy="914400"/>
          </a:xfrm>
          <a:custGeom>
            <a:avLst/>
            <a:gdLst/>
            <a:ahLst/>
            <a:cxnLst/>
            <a:rect l="0" t="0" r="0" b="0"/>
            <a:pathLst>
              <a:path w="876300" h="914400">
                <a:moveTo>
                  <a:pt x="19050" y="647700"/>
                </a:moveTo>
                <a:lnTo>
                  <a:pt x="95250" y="647700"/>
                </a:lnTo>
                <a:cubicBezTo>
                  <a:pt x="95250" y="647700"/>
                  <a:pt x="114300" y="647700"/>
                  <a:pt x="114300" y="666750"/>
                </a:cubicBezTo>
                <a:lnTo>
                  <a:pt x="114300" y="895350"/>
                </a:lnTo>
                <a:cubicBezTo>
                  <a:pt x="114300" y="895350"/>
                  <a:pt x="114300" y="914400"/>
                  <a:pt x="95250" y="914400"/>
                </a:cubicBezTo>
                <a:lnTo>
                  <a:pt x="19050" y="914400"/>
                </a:lnTo>
                <a:cubicBezTo>
                  <a:pt x="19050" y="914400"/>
                  <a:pt x="0" y="914400"/>
                  <a:pt x="0" y="895350"/>
                </a:cubicBezTo>
                <a:lnTo>
                  <a:pt x="0" y="666750"/>
                </a:lnTo>
                <a:cubicBezTo>
                  <a:pt x="0" y="666750"/>
                  <a:pt x="0" y="647700"/>
                  <a:pt x="19050" y="647700"/>
                </a:cubicBezTo>
                <a:moveTo>
                  <a:pt x="171450" y="457200"/>
                </a:moveTo>
                <a:lnTo>
                  <a:pt x="247650" y="457200"/>
                </a:lnTo>
                <a:cubicBezTo>
                  <a:pt x="247650" y="457200"/>
                  <a:pt x="266700" y="457200"/>
                  <a:pt x="266700" y="476250"/>
                </a:cubicBezTo>
                <a:lnTo>
                  <a:pt x="266700" y="895350"/>
                </a:lnTo>
                <a:cubicBezTo>
                  <a:pt x="266700" y="895350"/>
                  <a:pt x="266700" y="914400"/>
                  <a:pt x="247650" y="914400"/>
                </a:cubicBezTo>
                <a:lnTo>
                  <a:pt x="171450" y="914400"/>
                </a:lnTo>
                <a:cubicBezTo>
                  <a:pt x="171450" y="914400"/>
                  <a:pt x="152400" y="914400"/>
                  <a:pt x="152400" y="895350"/>
                </a:cubicBezTo>
                <a:lnTo>
                  <a:pt x="152400" y="476250"/>
                </a:lnTo>
                <a:cubicBezTo>
                  <a:pt x="152400" y="476250"/>
                  <a:pt x="152400" y="457200"/>
                  <a:pt x="171450" y="457200"/>
                </a:cubicBezTo>
                <a:moveTo>
                  <a:pt x="323850" y="571500"/>
                </a:moveTo>
                <a:lnTo>
                  <a:pt x="400050" y="571500"/>
                </a:lnTo>
                <a:cubicBezTo>
                  <a:pt x="400050" y="571500"/>
                  <a:pt x="419100" y="571500"/>
                  <a:pt x="419100" y="590550"/>
                </a:cubicBezTo>
                <a:lnTo>
                  <a:pt x="419100" y="895350"/>
                </a:lnTo>
                <a:cubicBezTo>
                  <a:pt x="419100" y="895350"/>
                  <a:pt x="419100" y="914400"/>
                  <a:pt x="400050" y="914400"/>
                </a:cubicBezTo>
                <a:lnTo>
                  <a:pt x="323850" y="914400"/>
                </a:lnTo>
                <a:cubicBezTo>
                  <a:pt x="323850" y="914400"/>
                  <a:pt x="304800" y="914400"/>
                  <a:pt x="304800" y="895350"/>
                </a:cubicBezTo>
                <a:lnTo>
                  <a:pt x="304800" y="590550"/>
                </a:lnTo>
                <a:cubicBezTo>
                  <a:pt x="304800" y="590550"/>
                  <a:pt x="304800" y="571500"/>
                  <a:pt x="323850" y="571500"/>
                </a:cubicBezTo>
                <a:moveTo>
                  <a:pt x="476250" y="304800"/>
                </a:moveTo>
                <a:lnTo>
                  <a:pt x="552450" y="304800"/>
                </a:lnTo>
                <a:cubicBezTo>
                  <a:pt x="552450" y="304800"/>
                  <a:pt x="571500" y="304800"/>
                  <a:pt x="571500" y="323850"/>
                </a:cubicBezTo>
                <a:lnTo>
                  <a:pt x="571500" y="895350"/>
                </a:lnTo>
                <a:cubicBezTo>
                  <a:pt x="571500" y="895350"/>
                  <a:pt x="571500" y="914400"/>
                  <a:pt x="552450" y="914400"/>
                </a:cubicBezTo>
                <a:lnTo>
                  <a:pt x="476250" y="914400"/>
                </a:lnTo>
                <a:cubicBezTo>
                  <a:pt x="476250" y="914400"/>
                  <a:pt x="457200" y="914400"/>
                  <a:pt x="457200" y="895350"/>
                </a:cubicBezTo>
                <a:lnTo>
                  <a:pt x="457200" y="323850"/>
                </a:lnTo>
                <a:cubicBezTo>
                  <a:pt x="457200" y="323850"/>
                  <a:pt x="457200" y="304800"/>
                  <a:pt x="476250" y="304800"/>
                </a:cubicBezTo>
                <a:moveTo>
                  <a:pt x="628650" y="457200"/>
                </a:moveTo>
                <a:lnTo>
                  <a:pt x="704850" y="457200"/>
                </a:lnTo>
                <a:cubicBezTo>
                  <a:pt x="704850" y="457200"/>
                  <a:pt x="723900" y="457200"/>
                  <a:pt x="723900" y="476250"/>
                </a:cubicBezTo>
                <a:lnTo>
                  <a:pt x="723900" y="895350"/>
                </a:lnTo>
                <a:cubicBezTo>
                  <a:pt x="723900" y="895350"/>
                  <a:pt x="723900" y="914400"/>
                  <a:pt x="704850" y="914400"/>
                </a:cubicBezTo>
                <a:lnTo>
                  <a:pt x="628650" y="914400"/>
                </a:lnTo>
                <a:cubicBezTo>
                  <a:pt x="628650" y="914400"/>
                  <a:pt x="609600" y="914400"/>
                  <a:pt x="609600" y="895350"/>
                </a:cubicBezTo>
                <a:lnTo>
                  <a:pt x="609600" y="476250"/>
                </a:lnTo>
                <a:cubicBezTo>
                  <a:pt x="609600" y="476250"/>
                  <a:pt x="609600" y="457200"/>
                  <a:pt x="628650" y="457200"/>
                </a:cubicBezTo>
                <a:moveTo>
                  <a:pt x="781050" y="152400"/>
                </a:moveTo>
                <a:lnTo>
                  <a:pt x="857250" y="152400"/>
                </a:lnTo>
                <a:cubicBezTo>
                  <a:pt x="857250" y="152400"/>
                  <a:pt x="876300" y="152400"/>
                  <a:pt x="876300" y="171450"/>
                </a:cubicBezTo>
                <a:lnTo>
                  <a:pt x="876300" y="895350"/>
                </a:lnTo>
                <a:cubicBezTo>
                  <a:pt x="876300" y="895350"/>
                  <a:pt x="876300" y="914400"/>
                  <a:pt x="857250" y="914400"/>
                </a:cubicBezTo>
                <a:lnTo>
                  <a:pt x="781050" y="914400"/>
                </a:lnTo>
                <a:cubicBezTo>
                  <a:pt x="781050" y="914400"/>
                  <a:pt x="762000" y="914400"/>
                  <a:pt x="762000" y="895350"/>
                </a:cubicBezTo>
                <a:lnTo>
                  <a:pt x="762000" y="171450"/>
                </a:lnTo>
                <a:cubicBezTo>
                  <a:pt x="762000" y="171450"/>
                  <a:pt x="762000" y="152400"/>
                  <a:pt x="781050" y="152400"/>
                </a:cubicBezTo>
                <a:moveTo>
                  <a:pt x="19050" y="0"/>
                </a:moveTo>
                <a:lnTo>
                  <a:pt x="857250" y="0"/>
                </a:lnTo>
                <a:cubicBezTo>
                  <a:pt x="857250" y="0"/>
                  <a:pt x="876300" y="0"/>
                  <a:pt x="876300" y="19050"/>
                </a:cubicBezTo>
                <a:lnTo>
                  <a:pt x="876300" y="95250"/>
                </a:lnTo>
                <a:cubicBezTo>
                  <a:pt x="876300" y="95250"/>
                  <a:pt x="876300" y="114300"/>
                  <a:pt x="857250" y="114300"/>
                </a:cubicBezTo>
                <a:lnTo>
                  <a:pt x="19050" y="114300"/>
                </a:lnTo>
                <a:cubicBezTo>
                  <a:pt x="19050" y="114300"/>
                  <a:pt x="0" y="114300"/>
                  <a:pt x="0" y="95250"/>
                </a:cubicBezTo>
                <a:lnTo>
                  <a:pt x="0" y="19050"/>
                </a:lnTo>
                <a:cubicBezTo>
                  <a:pt x="0" y="19050"/>
                  <a:pt x="0" y="0"/>
                  <a:pt x="19050" y="0"/>
                </a:cubicBezTo>
              </a:path>
            </a:pathLst>
          </a:custGeom>
          <a:solidFill>
            <a:srgbClr val="1320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05600" y="1473517"/>
            <a:ext cx="914400" cy="914400"/>
          </a:xfrm>
          <a:custGeom>
            <a:avLst/>
            <a:gdLst/>
            <a:ahLst/>
            <a:cxnLst/>
            <a:rect l="0" t="0" r="0" b="0"/>
            <a:pathLst>
              <a:path w="914400" h="914400">
                <a:moveTo>
                  <a:pt x="381000" y="0"/>
                </a:moveTo>
                <a:cubicBezTo>
                  <a:pt x="370474" y="0"/>
                  <a:pt x="361950" y="8524"/>
                  <a:pt x="361950" y="19050"/>
                </a:cubicBezTo>
                <a:lnTo>
                  <a:pt x="361950" y="419100"/>
                </a:lnTo>
                <a:lnTo>
                  <a:pt x="228600" y="419100"/>
                </a:lnTo>
                <a:lnTo>
                  <a:pt x="228600" y="266700"/>
                </a:lnTo>
                <a:cubicBezTo>
                  <a:pt x="228600" y="256174"/>
                  <a:pt x="220075" y="247650"/>
                  <a:pt x="209550" y="247650"/>
                </a:cubicBezTo>
                <a:lnTo>
                  <a:pt x="57150" y="247650"/>
                </a:lnTo>
                <a:cubicBezTo>
                  <a:pt x="46624" y="247650"/>
                  <a:pt x="38100" y="256174"/>
                  <a:pt x="38100" y="266700"/>
                </a:cubicBezTo>
                <a:lnTo>
                  <a:pt x="38100" y="419100"/>
                </a:lnTo>
                <a:cubicBezTo>
                  <a:pt x="17059" y="419100"/>
                  <a:pt x="0" y="436159"/>
                  <a:pt x="0" y="457200"/>
                </a:cubicBezTo>
                <a:cubicBezTo>
                  <a:pt x="0" y="478240"/>
                  <a:pt x="17059" y="495300"/>
                  <a:pt x="38100" y="495300"/>
                </a:cubicBezTo>
                <a:lnTo>
                  <a:pt x="876300" y="495300"/>
                </a:lnTo>
                <a:cubicBezTo>
                  <a:pt x="897340" y="495300"/>
                  <a:pt x="914400" y="478240"/>
                  <a:pt x="914400" y="457200"/>
                </a:cubicBezTo>
                <a:cubicBezTo>
                  <a:pt x="914400" y="436159"/>
                  <a:pt x="897340" y="419100"/>
                  <a:pt x="876300" y="419100"/>
                </a:cubicBezTo>
                <a:lnTo>
                  <a:pt x="876300" y="190500"/>
                </a:lnTo>
                <a:cubicBezTo>
                  <a:pt x="876300" y="179974"/>
                  <a:pt x="867775" y="171450"/>
                  <a:pt x="857250" y="171450"/>
                </a:cubicBezTo>
                <a:lnTo>
                  <a:pt x="704850" y="171450"/>
                </a:lnTo>
                <a:cubicBezTo>
                  <a:pt x="694324" y="171450"/>
                  <a:pt x="685800" y="179974"/>
                  <a:pt x="685800" y="190500"/>
                </a:cubicBezTo>
                <a:lnTo>
                  <a:pt x="685800" y="419100"/>
                </a:lnTo>
                <a:lnTo>
                  <a:pt x="552450" y="419100"/>
                </a:lnTo>
                <a:lnTo>
                  <a:pt x="552450" y="19050"/>
                </a:lnTo>
                <a:cubicBezTo>
                  <a:pt x="552450" y="8524"/>
                  <a:pt x="543925" y="0"/>
                  <a:pt x="533400" y="0"/>
                </a:cubicBezTo>
                <a:lnTo>
                  <a:pt x="381000" y="0"/>
                </a:lnTo>
                <a:moveTo>
                  <a:pt x="57150" y="647700"/>
                </a:moveTo>
                <a:cubicBezTo>
                  <a:pt x="57150" y="689781"/>
                  <a:pt x="91268" y="723900"/>
                  <a:pt x="133350" y="723900"/>
                </a:cubicBezTo>
                <a:cubicBezTo>
                  <a:pt x="175431" y="723900"/>
                  <a:pt x="209550" y="689781"/>
                  <a:pt x="209550" y="647700"/>
                </a:cubicBezTo>
                <a:cubicBezTo>
                  <a:pt x="209550" y="605618"/>
                  <a:pt x="175431" y="571500"/>
                  <a:pt x="133350" y="571500"/>
                </a:cubicBezTo>
                <a:cubicBezTo>
                  <a:pt x="91268" y="571500"/>
                  <a:pt x="57150" y="605618"/>
                  <a:pt x="57150" y="647700"/>
                </a:cubicBezTo>
                <a:moveTo>
                  <a:pt x="381000" y="647700"/>
                </a:moveTo>
                <a:cubicBezTo>
                  <a:pt x="381000" y="689781"/>
                  <a:pt x="415118" y="723900"/>
                  <a:pt x="457200" y="723900"/>
                </a:cubicBezTo>
                <a:cubicBezTo>
                  <a:pt x="499281" y="723900"/>
                  <a:pt x="533400" y="689781"/>
                  <a:pt x="533400" y="647700"/>
                </a:cubicBezTo>
                <a:cubicBezTo>
                  <a:pt x="533400" y="605618"/>
                  <a:pt x="499281" y="571500"/>
                  <a:pt x="457200" y="571500"/>
                </a:cubicBezTo>
                <a:cubicBezTo>
                  <a:pt x="415118" y="571500"/>
                  <a:pt x="381000" y="605618"/>
                  <a:pt x="381000" y="647700"/>
                </a:cubicBezTo>
                <a:moveTo>
                  <a:pt x="704850" y="647700"/>
                </a:moveTo>
                <a:cubicBezTo>
                  <a:pt x="704850" y="689781"/>
                  <a:pt x="738968" y="723900"/>
                  <a:pt x="781050" y="723900"/>
                </a:cubicBezTo>
                <a:cubicBezTo>
                  <a:pt x="823131" y="723900"/>
                  <a:pt x="857250" y="689781"/>
                  <a:pt x="857250" y="647700"/>
                </a:cubicBezTo>
                <a:cubicBezTo>
                  <a:pt x="857250" y="605618"/>
                  <a:pt x="823131" y="571500"/>
                  <a:pt x="781050" y="571500"/>
                </a:cubicBezTo>
                <a:cubicBezTo>
                  <a:pt x="738968" y="571500"/>
                  <a:pt x="704850" y="605618"/>
                  <a:pt x="704850" y="647700"/>
                </a:cubicBezTo>
                <a:moveTo>
                  <a:pt x="133350" y="762000"/>
                </a:moveTo>
                <a:cubicBezTo>
                  <a:pt x="59702" y="762000"/>
                  <a:pt x="0" y="821702"/>
                  <a:pt x="0" y="895350"/>
                </a:cubicBezTo>
                <a:cubicBezTo>
                  <a:pt x="0" y="905875"/>
                  <a:pt x="8524" y="914400"/>
                  <a:pt x="19050" y="914400"/>
                </a:cubicBezTo>
                <a:lnTo>
                  <a:pt x="247650" y="914400"/>
                </a:lnTo>
                <a:cubicBezTo>
                  <a:pt x="258175" y="914400"/>
                  <a:pt x="266700" y="905875"/>
                  <a:pt x="266700" y="895350"/>
                </a:cubicBezTo>
                <a:cubicBezTo>
                  <a:pt x="266700" y="821702"/>
                  <a:pt x="206997" y="762000"/>
                  <a:pt x="133350" y="762000"/>
                </a:cubicBezTo>
                <a:moveTo>
                  <a:pt x="457200" y="762000"/>
                </a:moveTo>
                <a:cubicBezTo>
                  <a:pt x="383552" y="762000"/>
                  <a:pt x="323850" y="821702"/>
                  <a:pt x="323850" y="895350"/>
                </a:cubicBezTo>
                <a:cubicBezTo>
                  <a:pt x="323850" y="905875"/>
                  <a:pt x="332374" y="914400"/>
                  <a:pt x="342900" y="914400"/>
                </a:cubicBezTo>
                <a:lnTo>
                  <a:pt x="571500" y="914400"/>
                </a:lnTo>
                <a:cubicBezTo>
                  <a:pt x="582025" y="914400"/>
                  <a:pt x="590550" y="905875"/>
                  <a:pt x="590550" y="895350"/>
                </a:cubicBezTo>
                <a:cubicBezTo>
                  <a:pt x="590550" y="821702"/>
                  <a:pt x="530847" y="762000"/>
                  <a:pt x="457200" y="762000"/>
                </a:cubicBezTo>
                <a:moveTo>
                  <a:pt x="781050" y="762000"/>
                </a:moveTo>
                <a:cubicBezTo>
                  <a:pt x="707402" y="762000"/>
                  <a:pt x="647700" y="821702"/>
                  <a:pt x="647700" y="895350"/>
                </a:cubicBezTo>
                <a:cubicBezTo>
                  <a:pt x="647700" y="905875"/>
                  <a:pt x="656224" y="914400"/>
                  <a:pt x="666750" y="914400"/>
                </a:cubicBezTo>
                <a:lnTo>
                  <a:pt x="895350" y="914400"/>
                </a:lnTo>
                <a:cubicBezTo>
                  <a:pt x="905875" y="914400"/>
                  <a:pt x="914400" y="905875"/>
                  <a:pt x="914400" y="895350"/>
                </a:cubicBezTo>
                <a:cubicBezTo>
                  <a:pt x="914400" y="821702"/>
                  <a:pt x="854697" y="762000"/>
                  <a:pt x="781050" y="762000"/>
                </a:cubicBezTo>
              </a:path>
            </a:pathLst>
          </a:custGeom>
          <a:solidFill>
            <a:srgbClr val="1320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0525" y="371474"/>
            <a:ext cx="7431779" cy="36004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700" b="1">
                <a:solidFill>
                  <a:srgbClr val="132028"/>
                </a:solidFill>
                <a:latin typeface="Montserrat"/>
              </a:rPr>
              <a:t>Classifier Performance on OASIS-2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0525" y="1112520"/>
            <a:ext cx="2138489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132028"/>
                </a:solidFill>
                <a:latin typeface="Montserrat"/>
              </a:rPr>
              <a:t>SVM (RBF): AUC 0.781.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9443" y="2702242"/>
            <a:ext cx="1149113" cy="41151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>
                <a:solidFill>
                  <a:srgbClr val="132028"/>
                </a:solidFill>
                <a:latin typeface="Montserrat"/>
              </a:rPr>
              <a:t>Logistic</a:t>
            </a:r>
          </a:p>
          <a:p>
            <a:pPr algn="ctr">
              <a:lnSpc>
                <a:spcPct val="100000"/>
              </a:lnSpc>
              <a:spcBef>
                <a:spcPts val="60"/>
              </a:spcBef>
            </a:pPr>
            <a:r>
              <a:rPr sz="1300" b="1">
                <a:solidFill>
                  <a:srgbClr val="132028"/>
                </a:solidFill>
                <a:latin typeface="Montserrat"/>
              </a:rPr>
              <a:t>Regression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525" y="1546857"/>
            <a:ext cx="3343741" cy="51430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>
                <a:solidFill>
                  <a:srgbClr val="132028"/>
                </a:solidFill>
                <a:latin typeface="Montserrat"/>
              </a:rPr>
              <a:t>Linear models performed better likely due to</a:t>
            </a:r>
          </a:p>
          <a:p>
            <a:pPr algn="l">
              <a:lnSpc>
                <a:spcPct val="100000"/>
              </a:lnSpc>
              <a:spcBef>
                <a:spcPts val="270"/>
              </a:spcBef>
            </a:pPr>
            <a:r>
              <a:rPr sz="900" b="0">
                <a:solidFill>
                  <a:srgbClr val="132028"/>
                </a:solidFill>
                <a:latin typeface="Montserrat"/>
              </a:rPr>
              <a:t>the small sample size and strong MMSE</a:t>
            </a:r>
          </a:p>
          <a:p>
            <a:pPr algn="l">
              <a:lnSpc>
                <a:spcPct val="100000"/>
              </a:lnSpc>
              <a:spcBef>
                <a:spcPts val="270"/>
              </a:spcBef>
            </a:pPr>
            <a:r>
              <a:rPr sz="900" b="0">
                <a:solidFill>
                  <a:srgbClr val="132028"/>
                </a:solidFill>
                <a:latin typeface="Montserrat"/>
              </a:rPr>
              <a:t>signal.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9151" y="3428086"/>
            <a:ext cx="509688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300" b="1">
                <a:solidFill>
                  <a:srgbClr val="132028"/>
                </a:solidFill>
                <a:latin typeface="Montserrat"/>
              </a:rPr>
              <a:t>0.851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5536" y="3948151"/>
            <a:ext cx="1336937" cy="3085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1">
                <a:solidFill>
                  <a:srgbClr val="132028"/>
                </a:solidFill>
                <a:latin typeface="Montserrat"/>
              </a:rPr>
              <a:t>Strongest model</a:t>
            </a:r>
          </a:p>
          <a:p>
            <a:pPr algn="ctr">
              <a:lnSpc>
                <a:spcPct val="100000"/>
              </a:lnSpc>
              <a:spcBef>
                <a:spcPts val="134"/>
              </a:spcBef>
            </a:pPr>
            <a:r>
              <a:rPr sz="900" b="1">
                <a:solidFill>
                  <a:srgbClr val="132028"/>
                </a:solidFill>
                <a:latin typeface="Montserrat"/>
              </a:rPr>
              <a:t>for this cohort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7321" y="2702242"/>
            <a:ext cx="930948" cy="41151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>
                <a:solidFill>
                  <a:srgbClr val="132028"/>
                </a:solidFill>
                <a:latin typeface="Montserrat"/>
              </a:rPr>
              <a:t>Random</a:t>
            </a:r>
          </a:p>
          <a:p>
            <a:pPr algn="ctr">
              <a:lnSpc>
                <a:spcPct val="100000"/>
              </a:lnSpc>
              <a:spcBef>
                <a:spcPts val="60"/>
              </a:spcBef>
            </a:pPr>
            <a:r>
              <a:rPr sz="1300" b="1">
                <a:solidFill>
                  <a:srgbClr val="132028"/>
                </a:solidFill>
                <a:latin typeface="Montserrat"/>
              </a:rPr>
              <a:t>Forest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5528" y="3428086"/>
            <a:ext cx="554533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300" b="1">
                <a:solidFill>
                  <a:srgbClr val="132028"/>
                </a:solidFill>
                <a:latin typeface="Montserrat"/>
              </a:rPr>
              <a:t>0.786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8371" y="3948150"/>
            <a:ext cx="1528846" cy="46287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1">
                <a:solidFill>
                  <a:srgbClr val="132028"/>
                </a:solidFill>
                <a:latin typeface="Montserrat"/>
              </a:rPr>
              <a:t>Model performance</a:t>
            </a:r>
          </a:p>
          <a:p>
            <a:pPr algn="ctr">
              <a:lnSpc>
                <a:spcPct val="100000"/>
              </a:lnSpc>
              <a:spcBef>
                <a:spcPts val="134"/>
              </a:spcBef>
            </a:pPr>
            <a:r>
              <a:rPr sz="900" b="1">
                <a:solidFill>
                  <a:srgbClr val="132028"/>
                </a:solidFill>
                <a:latin typeface="Montserrat"/>
              </a:rPr>
              <a:t>on the OASIS-2</a:t>
            </a:r>
          </a:p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900" b="1">
                <a:solidFill>
                  <a:srgbClr val="132028"/>
                </a:solidFill>
                <a:latin typeface="Montserrat"/>
              </a:rPr>
              <a:t>dataset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1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5D9A9A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342"/>
            <a:ext cx="4467224" cy="258032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57750" y="1851560"/>
            <a:ext cx="4327421" cy="66867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87500"/>
              </a:lnSpc>
              <a:spcBef>
                <a:spcPts val="0"/>
              </a:spcBef>
            </a:pPr>
            <a:r>
              <a:rPr sz="2700" b="1">
                <a:solidFill>
                  <a:srgbClr val="132028"/>
                </a:solidFill>
                <a:latin typeface="Montserrat"/>
              </a:rPr>
              <a:t>Imaging vs. Clinical</a:t>
            </a:r>
          </a:p>
          <a:p>
            <a:pPr algn="l">
              <a:lnSpc>
                <a:spcPct val="87500"/>
              </a:lnSpc>
              <a:spcBef>
                <a:spcPts val="0"/>
              </a:spcBef>
            </a:pPr>
            <a:r>
              <a:rPr sz="2700" b="1">
                <a:solidFill>
                  <a:srgbClr val="132028"/>
                </a:solidFill>
                <a:latin typeface="Montserrat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57750" y="2615487"/>
            <a:ext cx="4117119" cy="41151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0">
                <a:solidFill>
                  <a:srgbClr val="132028"/>
                </a:solidFill>
                <a:latin typeface="Montserrat"/>
              </a:rPr>
              <a:t>Combined data provides the most robust</a:t>
            </a:r>
          </a:p>
          <a:p>
            <a:pPr algn="l">
              <a:lnSpc>
                <a:spcPct val="100000"/>
              </a:lnSpc>
              <a:spcBef>
                <a:spcPts val="60"/>
              </a:spcBef>
            </a:pPr>
            <a:r>
              <a:rPr sz="1300" b="0">
                <a:solidFill>
                  <a:srgbClr val="132028"/>
                </a:solidFill>
                <a:latin typeface="Montserrat"/>
              </a:rPr>
              <a:t>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0525" y="3493731"/>
            <a:ext cx="1402080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132028"/>
                </a:solidFill>
                <a:latin typeface="Montserrat"/>
              </a:rPr>
              <a:t>Imaging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33650" y="3493731"/>
            <a:ext cx="1290373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132028"/>
                </a:solidFill>
                <a:latin typeface="Montserrat"/>
              </a:rPr>
              <a:t>Clinical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76775" y="3493731"/>
            <a:ext cx="1068329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132028"/>
                </a:solidFill>
                <a:latin typeface="Montserrat"/>
              </a:rPr>
              <a:t>Combined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9900" y="3493731"/>
            <a:ext cx="1557250" cy="41151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>
                <a:solidFill>
                  <a:srgbClr val="132028"/>
                </a:solidFill>
                <a:latin typeface="Montserrat"/>
              </a:rPr>
              <a:t>Adding scan</a:t>
            </a:r>
          </a:p>
          <a:p>
            <a:pPr algn="l">
              <a:lnSpc>
                <a:spcPct val="100000"/>
              </a:lnSpc>
              <a:spcBef>
                <a:spcPts val="60"/>
              </a:spcBef>
            </a:pPr>
            <a:r>
              <a:rPr sz="1300" b="1">
                <a:solidFill>
                  <a:srgbClr val="132028"/>
                </a:solidFill>
                <a:latin typeface="Montserrat"/>
              </a:rPr>
              <a:t>measurements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0525" y="3808055"/>
            <a:ext cx="1618076" cy="3429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AUC 0.639 (Weakest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performance).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3650" y="3808055"/>
            <a:ext cx="833962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>
                <a:solidFill>
                  <a:srgbClr val="132028"/>
                </a:solidFill>
                <a:latin typeface="Montserrat"/>
              </a:rPr>
              <a:t>AUC 0.742.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6775" y="3808055"/>
            <a:ext cx="832485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>
                <a:solidFill>
                  <a:srgbClr val="132028"/>
                </a:solidFill>
                <a:latin typeface="Montserrat"/>
              </a:rPr>
              <a:t>AUC 0.793.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9900" y="3990975"/>
            <a:ext cx="2112244" cy="685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Adding scan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measurements to patient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details gives a measurable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gain of 0.051 AUC.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" y="4829133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1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5D9A9A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5827"/>
            <a:ext cx="4467225" cy="239826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57750" y="2034479"/>
            <a:ext cx="3259769" cy="66867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87500"/>
              </a:lnSpc>
              <a:spcBef>
                <a:spcPts val="0"/>
              </a:spcBef>
            </a:pPr>
            <a:r>
              <a:rPr sz="2700" b="1">
                <a:solidFill>
                  <a:srgbClr val="132028"/>
                </a:solidFill>
                <a:latin typeface="Montserrat"/>
              </a:rPr>
              <a:t>SHAP Global</a:t>
            </a:r>
          </a:p>
          <a:p>
            <a:pPr algn="l">
              <a:lnSpc>
                <a:spcPct val="87500"/>
              </a:lnSpc>
              <a:spcBef>
                <a:spcPts val="0"/>
              </a:spcBef>
            </a:pPr>
            <a:r>
              <a:rPr sz="2700" b="1">
                <a:solidFill>
                  <a:srgbClr val="132028"/>
                </a:solidFill>
                <a:latin typeface="Montserrat"/>
              </a:rPr>
              <a:t>Interpretability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57750" y="2798406"/>
            <a:ext cx="3852302" cy="41151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0">
                <a:solidFill>
                  <a:srgbClr val="132028"/>
                </a:solidFill>
                <a:latin typeface="Montserrat"/>
              </a:rPr>
              <a:t>Quantifying the influence of clinical vs.</a:t>
            </a:r>
          </a:p>
          <a:p>
            <a:pPr algn="l">
              <a:lnSpc>
                <a:spcPct val="100000"/>
              </a:lnSpc>
              <a:spcBef>
                <a:spcPts val="60"/>
              </a:spcBef>
            </a:pPr>
            <a:r>
              <a:rPr sz="1300" b="0">
                <a:solidFill>
                  <a:srgbClr val="132028"/>
                </a:solidFill>
                <a:latin typeface="Montserrat"/>
              </a:rPr>
              <a:t>imaging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0525" y="3676648"/>
            <a:ext cx="1401739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132028"/>
                </a:solidFill>
                <a:latin typeface="Montserrat"/>
              </a:rPr>
              <a:t>Clinical Share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33650" y="3676648"/>
            <a:ext cx="1513555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132028"/>
                </a:solidFill>
                <a:latin typeface="Montserrat"/>
              </a:rPr>
              <a:t>Imaging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76775" y="3676648"/>
            <a:ext cx="634736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132028"/>
                </a:solidFill>
                <a:latin typeface="Montserrat"/>
              </a:rPr>
              <a:t>MMSE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9900" y="3676648"/>
            <a:ext cx="1295389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132028"/>
                </a:solidFill>
                <a:latin typeface="Montserrat"/>
              </a:rPr>
              <a:t>SHAP values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0525" y="3990975"/>
            <a:ext cx="1883244" cy="3429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66% of model influence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(dominated by MMSE).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3650" y="3990975"/>
            <a:ext cx="1882784" cy="3429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34% of model influence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(dominated by nWBV).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6775" y="3990975"/>
            <a:ext cx="2024394" cy="685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MMSE is the strongest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individual predictor,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followed by brain volume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(nWBV).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9900" y="3990975"/>
            <a:ext cx="2212317" cy="5143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SHAP values confirm that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clinical features carry about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two-thirds of the signal.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1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5D9A9A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66" y="0"/>
            <a:ext cx="3405091" cy="30384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57750" y="1863029"/>
            <a:ext cx="3929997" cy="66867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87500"/>
              </a:lnSpc>
              <a:spcBef>
                <a:spcPts val="0"/>
              </a:spcBef>
            </a:pPr>
            <a:r>
              <a:rPr sz="2700" b="1">
                <a:solidFill>
                  <a:srgbClr val="132028"/>
                </a:solidFill>
                <a:latin typeface="Montserrat"/>
              </a:rPr>
              <a:t>Generalization on</a:t>
            </a:r>
          </a:p>
          <a:p>
            <a:pPr algn="l">
              <a:lnSpc>
                <a:spcPct val="87500"/>
              </a:lnSpc>
              <a:spcBef>
                <a:spcPts val="0"/>
              </a:spcBef>
            </a:pPr>
            <a:r>
              <a:rPr sz="2700" b="1">
                <a:solidFill>
                  <a:srgbClr val="132028"/>
                </a:solidFill>
                <a:latin typeface="Montserrat"/>
              </a:rPr>
              <a:t>OASIS-1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57750" y="2626956"/>
            <a:ext cx="4451099" cy="41151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0">
                <a:solidFill>
                  <a:srgbClr val="132028"/>
                </a:solidFill>
                <a:latin typeface="Montserrat"/>
              </a:rPr>
              <a:t>Random Forest shows superior performance</a:t>
            </a:r>
          </a:p>
          <a:p>
            <a:pPr algn="l">
              <a:lnSpc>
                <a:spcPct val="100000"/>
              </a:lnSpc>
              <a:spcBef>
                <a:spcPts val="60"/>
              </a:spcBef>
            </a:pPr>
            <a:r>
              <a:rPr sz="1300" b="0">
                <a:solidFill>
                  <a:srgbClr val="132028"/>
                </a:solidFill>
                <a:latin typeface="Montserrat"/>
              </a:rPr>
              <a:t>on independent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0525" y="3505198"/>
            <a:ext cx="1540140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132028"/>
                </a:solidFill>
                <a:latin typeface="Montserrat"/>
              </a:rPr>
              <a:t>Models trained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5025" y="3505198"/>
            <a:ext cx="1581327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132028"/>
                </a:solidFill>
                <a:latin typeface="Montserrat"/>
              </a:rPr>
              <a:t>Random Forest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9525" y="3505200"/>
            <a:ext cx="1149113" cy="41151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>
                <a:solidFill>
                  <a:srgbClr val="132028"/>
                </a:solidFill>
                <a:latin typeface="Montserrat"/>
              </a:rPr>
              <a:t>Logistic</a:t>
            </a:r>
          </a:p>
          <a:p>
            <a:pPr algn="l">
              <a:lnSpc>
                <a:spcPct val="100000"/>
              </a:lnSpc>
              <a:spcBef>
                <a:spcPts val="60"/>
              </a:spcBef>
            </a:pPr>
            <a:r>
              <a:rPr sz="1300" b="1">
                <a:solidFill>
                  <a:srgbClr val="132028"/>
                </a:solidFill>
                <a:latin typeface="Montserrat"/>
              </a:rPr>
              <a:t>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4025" y="3505198"/>
            <a:ext cx="458227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132028"/>
                </a:solidFill>
                <a:latin typeface="Montserrat"/>
              </a:rPr>
              <a:t>SVM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8525" y="3505198"/>
            <a:ext cx="1461295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132028"/>
                </a:solidFill>
                <a:latin typeface="Montserrat"/>
              </a:rPr>
              <a:t>Demonstrates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5025" y="3819525"/>
            <a:ext cx="1715050" cy="3429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AUC 0.938 (Strongest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generalization).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4025" y="3819525"/>
            <a:ext cx="813315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>
                <a:solidFill>
                  <a:srgbClr val="132028"/>
                </a:solidFill>
                <a:latin typeface="Montserrat"/>
              </a:rPr>
              <a:t>AUC 0.891.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525" y="3819525"/>
            <a:ext cx="1644201" cy="685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Models trained on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OASIS-2 were tested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once on the OASIS-1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cohort.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9525" y="4002444"/>
            <a:ext cx="853931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0">
                <a:solidFill>
                  <a:srgbClr val="132028"/>
                </a:solidFill>
                <a:latin typeface="Montserrat"/>
              </a:rPr>
              <a:t>AUC 0.896.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8525" y="3819525"/>
            <a:ext cx="1532494" cy="8572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Demonstrates that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models carry over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well to different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cohorts with AUC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near 0.9.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6212" y="4881523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1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5D9A9A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11023" r="11023"/>
          <a:stretch>
            <a:fillRect/>
          </a:stretch>
        </p:blipFill>
        <p:spPr>
          <a:xfrm>
            <a:off x="0" y="0"/>
            <a:ext cx="4467225" cy="31984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57750" y="2228792"/>
            <a:ext cx="2372965" cy="6686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87500"/>
              </a:lnSpc>
              <a:spcBef>
                <a:spcPts val="0"/>
              </a:spcBef>
            </a:pPr>
            <a:r>
              <a:rPr sz="2700" b="1">
                <a:solidFill>
                  <a:srgbClr val="132028"/>
                </a:solidFill>
                <a:latin typeface="Montserrat"/>
              </a:rPr>
              <a:t>Streamlit</a:t>
            </a:r>
          </a:p>
          <a:p>
            <a:pPr algn="l">
              <a:lnSpc>
                <a:spcPct val="87500"/>
              </a:lnSpc>
              <a:spcBef>
                <a:spcPts val="0"/>
              </a:spcBef>
            </a:pPr>
            <a:r>
              <a:rPr sz="2700" b="1">
                <a:solidFill>
                  <a:srgbClr val="132028"/>
                </a:solidFill>
                <a:latin typeface="Montserrat"/>
              </a:rPr>
              <a:t>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57750" y="2992717"/>
            <a:ext cx="4294560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132028"/>
                </a:solidFill>
                <a:latin typeface="Montserrat"/>
              </a:rPr>
              <a:t>Interactive risk prediction and explainability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0525" y="3665179"/>
            <a:ext cx="984697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132028"/>
                </a:solidFill>
                <a:latin typeface="Montserrat"/>
              </a:rPr>
              <a:t>Deployed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33650" y="3665179"/>
            <a:ext cx="1004424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132028"/>
                </a:solidFill>
                <a:latin typeface="Montserrat"/>
              </a:rPr>
              <a:t>Users 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76775" y="3665179"/>
            <a:ext cx="1072097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132028"/>
                </a:solidFill>
                <a:latin typeface="Montserrat"/>
              </a:rPr>
              <a:t>Provides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9900" y="3665181"/>
            <a:ext cx="1874689" cy="41151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>
                <a:solidFill>
                  <a:srgbClr val="132028"/>
                </a:solidFill>
                <a:latin typeface="Montserrat"/>
              </a:rPr>
              <a:t>Includes example</a:t>
            </a:r>
          </a:p>
          <a:p>
            <a:pPr algn="l">
              <a:lnSpc>
                <a:spcPct val="100000"/>
              </a:lnSpc>
              <a:spcBef>
                <a:spcPts val="60"/>
              </a:spcBef>
            </a:pPr>
            <a:r>
              <a:rPr sz="1300" b="1">
                <a:solidFill>
                  <a:srgbClr val="132028"/>
                </a:solidFill>
                <a:latin typeface="Montserrat"/>
              </a:rPr>
              <a:t>profiles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0525" y="3979505"/>
            <a:ext cx="1943610" cy="5143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Deployed as a live web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application for real-time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predictions.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3650" y="3979505"/>
            <a:ext cx="2139748" cy="5143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Users can adjust sliders for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brain scan and clinical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measurements.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6775" y="3979505"/>
            <a:ext cx="2223611" cy="5143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Provides a risk estimate and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a SHAP chart for individual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explanations.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9900" y="4162425"/>
            <a:ext cx="2223611" cy="5143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Includes example profiles to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demonstrate model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behavior.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1947" y="4875789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1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5D9A9A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13131" r="13131"/>
          <a:stretch>
            <a:fillRect/>
          </a:stretch>
        </p:blipFill>
        <p:spPr>
          <a:xfrm>
            <a:off x="0" y="0"/>
            <a:ext cx="4467225" cy="33813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57750" y="1665904"/>
            <a:ext cx="4082779" cy="102873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87500"/>
              </a:lnSpc>
              <a:spcBef>
                <a:spcPts val="0"/>
              </a:spcBef>
            </a:pPr>
            <a:r>
              <a:rPr sz="2700" b="1">
                <a:solidFill>
                  <a:srgbClr val="132028"/>
                </a:solidFill>
                <a:latin typeface="Montserrat"/>
              </a:rPr>
              <a:t>Benchmarking</a:t>
            </a:r>
          </a:p>
          <a:p>
            <a:pPr algn="l">
              <a:lnSpc>
                <a:spcPct val="87500"/>
              </a:lnSpc>
              <a:spcBef>
                <a:spcPts val="0"/>
              </a:spcBef>
            </a:pPr>
            <a:r>
              <a:rPr sz="2700" b="1">
                <a:solidFill>
                  <a:srgbClr val="132028"/>
                </a:solidFill>
                <a:latin typeface="Montserrat"/>
              </a:rPr>
              <a:t>Against Published</a:t>
            </a:r>
          </a:p>
          <a:p>
            <a:pPr algn="l">
              <a:lnSpc>
                <a:spcPct val="87500"/>
              </a:lnSpc>
              <a:spcBef>
                <a:spcPts val="0"/>
              </a:spcBef>
            </a:pPr>
            <a:r>
              <a:rPr sz="2700" b="1">
                <a:solidFill>
                  <a:srgbClr val="132028"/>
                </a:solidFill>
                <a:latin typeface="Montserrat"/>
              </a:rPr>
              <a:t>Studies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57750" y="2969856"/>
            <a:ext cx="4469130" cy="41151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0">
                <a:solidFill>
                  <a:srgbClr val="132028"/>
                </a:solidFill>
                <a:latin typeface="Montserrat"/>
              </a:rPr>
              <a:t>Why stricter validation leads to more realistic</a:t>
            </a:r>
          </a:p>
          <a:p>
            <a:pPr algn="l">
              <a:lnSpc>
                <a:spcPct val="100000"/>
              </a:lnSpc>
              <a:spcBef>
                <a:spcPts val="60"/>
              </a:spcBef>
            </a:pPr>
            <a:r>
              <a:rPr sz="1300" b="0">
                <a:solidFill>
                  <a:srgbClr val="132028"/>
                </a:solidFill>
                <a:latin typeface="Montserrat"/>
              </a:rPr>
              <a:t>scores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0525" y="3848098"/>
            <a:ext cx="1324264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132028"/>
                </a:solidFill>
                <a:latin typeface="Montserrat"/>
              </a:rPr>
              <a:t>Many papers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8025" y="3848098"/>
            <a:ext cx="1058285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132028"/>
                </a:solidFill>
                <a:latin typeface="Montserrat"/>
              </a:rPr>
              <a:t>This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05525" y="3848098"/>
            <a:ext cx="2307921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132028"/>
                </a:solidFill>
                <a:latin typeface="Montserrat"/>
              </a:rPr>
              <a:t>Avoiding data leakage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0525" y="4162425"/>
            <a:ext cx="3027111" cy="5143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Many papers report 90%+ accuracy by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using CDR as an input or random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splits.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8025" y="4162425"/>
            <a:ext cx="3011020" cy="5143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This study reports lower scores due to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person-wise validation and removing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CDR.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5525" y="4162425"/>
            <a:ext cx="3045142" cy="5143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Avoiding data leakage provides a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more honest assessment of real-world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performance.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4812" y="4967248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5D9A9A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13131" r="13131"/>
          <a:stretch>
            <a:fillRect/>
          </a:stretch>
        </p:blipFill>
        <p:spPr>
          <a:xfrm>
            <a:off x="0" y="0"/>
            <a:ext cx="4467225" cy="33813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57750" y="2205928"/>
            <a:ext cx="3872489" cy="6686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87500"/>
              </a:lnSpc>
              <a:spcBef>
                <a:spcPts val="0"/>
              </a:spcBef>
            </a:pPr>
            <a:r>
              <a:rPr sz="2700" b="1">
                <a:solidFill>
                  <a:srgbClr val="132028"/>
                </a:solidFill>
                <a:latin typeface="Montserrat"/>
              </a:rPr>
              <a:t>Key Findings and</a:t>
            </a:r>
          </a:p>
          <a:p>
            <a:pPr algn="l">
              <a:lnSpc>
                <a:spcPct val="87500"/>
              </a:lnSpc>
              <a:spcBef>
                <a:spcPts val="0"/>
              </a:spcBef>
            </a:pPr>
            <a:r>
              <a:rPr sz="2700" b="1">
                <a:solidFill>
                  <a:srgbClr val="132028"/>
                </a:solidFill>
                <a:latin typeface="Montserrat"/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57750" y="2969856"/>
            <a:ext cx="4060302" cy="41151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0">
                <a:solidFill>
                  <a:srgbClr val="132028"/>
                </a:solidFill>
                <a:latin typeface="Montserrat"/>
              </a:rPr>
              <a:t>Advancing dementia prediction through</a:t>
            </a:r>
          </a:p>
          <a:p>
            <a:pPr algn="l">
              <a:lnSpc>
                <a:spcPct val="100000"/>
              </a:lnSpc>
              <a:spcBef>
                <a:spcPts val="60"/>
              </a:spcBef>
            </a:pPr>
            <a:r>
              <a:rPr sz="1300" b="0">
                <a:solidFill>
                  <a:srgbClr val="132028"/>
                </a:solidFill>
                <a:latin typeface="Montserrat"/>
              </a:rPr>
              <a:t>multimodal, explainable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0525" y="3848098"/>
            <a:ext cx="1780673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132028"/>
                </a:solidFill>
                <a:latin typeface="Montserrat"/>
              </a:rPr>
              <a:t>Combining scans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8025" y="3848098"/>
            <a:ext cx="1498494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132028"/>
                </a:solidFill>
                <a:latin typeface="Montserrat"/>
              </a:rPr>
              <a:t>Clinical details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05525" y="3848098"/>
            <a:ext cx="1304284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00" b="1">
                <a:solidFill>
                  <a:srgbClr val="132028"/>
                </a:solidFill>
                <a:latin typeface="Montserrat"/>
              </a:rPr>
              <a:t>Future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0525" y="4162425"/>
            <a:ext cx="2902512" cy="3429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Combining scans and clinical data is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superior to using either alone.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8025" y="4162425"/>
            <a:ext cx="3010911" cy="3429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Clinical details provide ~2/3 of the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signal, but scans add significant value.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5525" y="4162425"/>
            <a:ext cx="2909589" cy="5143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Larger datasets, hyperparameter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tuning, and predicting conversion in</a:t>
            </a:r>
          </a:p>
          <a:p>
            <a:pPr algn="l">
              <a:lnSpc>
                <a:spcPct val="100000"/>
              </a:lnSpc>
              <a:spcBef>
                <a:spcPts val="150"/>
              </a:spcBef>
            </a:pPr>
            <a:r>
              <a:rPr sz="1000" b="0">
                <a:solidFill>
                  <a:srgbClr val="132028"/>
                </a:solidFill>
                <a:latin typeface="Montserrat"/>
              </a:rPr>
              <a:t>follow-up visits.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6212" y="4881523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1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5D9A9A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Slides>12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Predicting Dementia Using Brain Scan Measurements and Patient Health Data</dc:title>
  <cp:lastModifiedBy/>
  <cp:revision>1</cp:revision>
  <dcterms:modified xsi:type="dcterms:W3CDTF">2026-10-24T09:44:30Z</dcterms:modified>
  <dcterms:created xsi:type="dcterms:W3CDTF">2026-10-24T09:44:30Z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apkinAIOrigin">
    <vt:lpwstr>http://cv.iptc.org/newscodes/digitalsourcetype/compositeWithTrainedAlgorithmicMedia</vt:lpwstr>
  </property>
  <property fmtid="{D5CDD505-2E9C-101B-9397-08002B2CF9AE}" pid="3" name="NapkinAIOriginGenerator">
    <vt:lpwstr>Napkin AI</vt:lpwstr>
  </property>
  <property fmtid="{D5CDD505-2E9C-101B-9397-08002B2CF9AE}" pid="4" name="NapkinAIOriginVersion">
    <vt:lpwstr>napkin-ai-origin-v1</vt:lpwstr>
  </property>
</Properties>
</file>